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7" r:id="rId7"/>
    <p:sldId id="260" r:id="rId8"/>
    <p:sldId id="268" r:id="rId9"/>
    <p:sldId id="269" r:id="rId10"/>
    <p:sldId id="270" r:id="rId11"/>
    <p:sldId id="271" r:id="rId12"/>
    <p:sldId id="272" r:id="rId13"/>
    <p:sldId id="265" r:id="rId14"/>
  </p:sldIdLst>
  <p:sldSz cx="18288000" cy="10287000"/>
  <p:notesSz cx="6858000" cy="9144000"/>
  <p:embeddedFontLst>
    <p:embeddedFont>
      <p:font typeface="Alegreya Sans SC Black" panose="00000A00000000000000"/>
      <p:bold r:id="rId18"/>
    </p:embeddedFont>
    <p:embeddedFont>
      <p:font typeface="Alegreya Sans SC Bold Bold" panose="00000900000000000000"/>
      <p:bold r:id="rId19"/>
    </p:embeddedFont>
    <p:embeddedFont>
      <p:font typeface="Trocchi" panose="00000500000000000000"/>
      <p:regular r:id="rId20"/>
    </p:embeddedFont>
    <p:embeddedFont>
      <p:font typeface="Arimo" panose="020B0604020202020204"/>
      <p:regular r:id="rId21"/>
    </p:embeddedFont>
    <p:embeddedFont>
      <p:font typeface="Calibri" panose="020F0502020204030204" charset="0"/>
      <p:regular r:id="rId22"/>
      <p:bold r:id="rId23"/>
      <p:italic r:id="rId24"/>
      <p:boldItalic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 showGuides="1">
      <p:cViewPr varScale="1">
        <p:scale>
          <a:sx n="52" d="100"/>
          <a:sy n="52" d="100"/>
        </p:scale>
        <p:origin x="778" y="58"/>
      </p:cViewPr>
      <p:guideLst>
        <p:guide orient="horz" pos="2157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font" Target="fonts/font8.fntdata"/><Relationship Id="rId24" Type="http://schemas.openxmlformats.org/officeDocument/2006/relationships/font" Target="fonts/font7.fntdata"/><Relationship Id="rId23" Type="http://schemas.openxmlformats.org/officeDocument/2006/relationships/font" Target="fonts/font6.fntdata"/><Relationship Id="rId22" Type="http://schemas.openxmlformats.org/officeDocument/2006/relationships/font" Target="fonts/font5.fntdata"/><Relationship Id="rId21" Type="http://schemas.openxmlformats.org/officeDocument/2006/relationships/font" Target="fonts/font4.fntdata"/><Relationship Id="rId20" Type="http://schemas.openxmlformats.org/officeDocument/2006/relationships/font" Target="fonts/font3.fntdata"/><Relationship Id="rId2" Type="http://schemas.openxmlformats.org/officeDocument/2006/relationships/theme" Target="theme/theme1.xml"/><Relationship Id="rId19" Type="http://schemas.openxmlformats.org/officeDocument/2006/relationships/font" Target="fonts/font2.fntdata"/><Relationship Id="rId18" Type="http://schemas.openxmlformats.org/officeDocument/2006/relationships/font" Target="fonts/font1.fntdata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 rot="-5400000">
            <a:off x="13431844" y="5421270"/>
            <a:ext cx="8693186" cy="1038274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5" name="TextBox 5"/>
          <p:cNvSpPr txBox="1"/>
          <p:nvPr/>
        </p:nvSpPr>
        <p:spPr>
          <a:xfrm>
            <a:off x="1814834" y="284142"/>
            <a:ext cx="13767989" cy="8504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545"/>
              </a:lnSpc>
            </a:pP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Alegreya Sans SC Black" panose="00000A00000000000000"/>
              </a:rPr>
              <a:t>МИНИСТЕРСТВО ОБРАЗОВАНИЯ </a:t>
            </a:r>
            <a:r>
              <a:rPr lang="ru-RU" sz="2535" spc="50" dirty="0">
                <a:solidFill>
                  <a:srgbClr val="F0F0EE">
                    <a:alpha val="66667"/>
                  </a:srgbClr>
                </a:solidFill>
                <a:latin typeface="Alegreya Sans SC Black" panose="00000A00000000000000"/>
              </a:rPr>
              <a:t>И МОЛОДЕЖНОЙ ПОЛИТИКИ</a:t>
            </a: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Alegreya Sans SC Black" panose="00000A00000000000000"/>
              </a:rPr>
              <a:t> СВЕРДЛОВСКОЙ ОБЛАСТИ</a:t>
            </a:r>
            <a:endParaRPr lang="en-US" sz="2535" spc="50" dirty="0">
              <a:solidFill>
                <a:srgbClr val="F0F0EE">
                  <a:alpha val="66667"/>
                </a:srgbClr>
              </a:solidFill>
              <a:latin typeface="Alegreya Sans SC Black" panose="00000A00000000000000"/>
            </a:endParaRPr>
          </a:p>
          <a:p>
            <a:pPr>
              <a:lnSpc>
                <a:spcPts val="3545"/>
              </a:lnSpc>
            </a:pPr>
            <a:r>
              <a:rPr lang="en-US" sz="2535" spc="50" dirty="0">
                <a:solidFill>
                  <a:srgbClr val="F0F0EE">
                    <a:alpha val="66667"/>
                  </a:srgbClr>
                </a:solidFill>
                <a:latin typeface="Alegreya Sans SC Black" panose="00000A00000000000000"/>
              </a:rPr>
              <a:t> ГАПОУ СО «ЕКАТЕРИНБУРГСКИЙ КОЛЛЕДЖ ТРАНСПОРТНОГО СТРОИТЕЛЬСТВА»</a:t>
            </a:r>
            <a:endParaRPr lang="en-US" sz="2535" spc="50" dirty="0">
              <a:solidFill>
                <a:srgbClr val="F0F0EE">
                  <a:alpha val="66667"/>
                </a:srgbClr>
              </a:solidFill>
              <a:latin typeface="Alegreya Sans SC Black" panose="00000A00000000000000"/>
            </a:endParaRPr>
          </a:p>
        </p:txBody>
      </p:sp>
      <p:sp>
        <p:nvSpPr>
          <p:cNvPr id="6" name="AutoShape 6"/>
          <p:cNvSpPr/>
          <p:nvPr/>
        </p:nvSpPr>
        <p:spPr>
          <a:xfrm>
            <a:off x="0" y="0"/>
            <a:ext cx="1593814" cy="159381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7" name="TextBox 7"/>
          <p:cNvSpPr txBox="1"/>
          <p:nvPr/>
        </p:nvSpPr>
        <p:spPr>
          <a:xfrm>
            <a:off x="1814834" y="2651126"/>
            <a:ext cx="15056727" cy="12979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125"/>
              </a:lnSpc>
            </a:pPr>
            <a:r>
              <a:rPr lang="en-US" altLang="en-US" sz="11505" spc="-414" dirty="0">
                <a:solidFill>
                  <a:srgbClr val="F0F0EE"/>
                </a:solidFill>
                <a:latin typeface="Alegreya Sans SC Bold Bold" panose="00000900000000000000"/>
              </a:rPr>
              <a:t>приложение</a:t>
            </a:r>
            <a:r>
              <a:rPr lang="en-US" altLang="ru-RU" sz="11505" spc="-414" dirty="0">
                <a:solidFill>
                  <a:srgbClr val="F0F0EE"/>
                </a:solidFill>
                <a:latin typeface="Alegreya Sans SC Bold Bold" panose="00000900000000000000"/>
              </a:rPr>
              <a:t> </a:t>
            </a:r>
            <a:r>
              <a:rPr lang="" altLang="en-US" sz="11505" spc="-414" dirty="0">
                <a:solidFill>
                  <a:srgbClr val="F0F0EE"/>
                </a:solidFill>
                <a:latin typeface="Alegreya Sans SC Bold Bold" panose="00000900000000000000"/>
              </a:rPr>
              <a:t>«</a:t>
            </a:r>
            <a:r>
              <a:rPr lang="en-US" altLang="en-US" sz="11505" spc="-414" dirty="0">
                <a:solidFill>
                  <a:srgbClr val="F0F0EE"/>
                </a:solidFill>
                <a:latin typeface="Alegreya Sans SC Bold Bold" panose="00000900000000000000"/>
              </a:rPr>
              <a:t>Колледж</a:t>
            </a:r>
            <a:r>
              <a:rPr lang="" altLang="en-US" sz="11505" spc="-414" dirty="0">
                <a:solidFill>
                  <a:srgbClr val="F0F0EE"/>
                </a:solidFill>
                <a:latin typeface="Alegreya Sans SC Bold Bold" panose="00000900000000000000"/>
              </a:rPr>
              <a:t>»</a:t>
            </a:r>
            <a:endParaRPr lang="" altLang="en-US" sz="11505" spc="-414" dirty="0">
              <a:solidFill>
                <a:srgbClr val="F0F0EE"/>
              </a:solidFill>
              <a:latin typeface="Alegreya Sans SC Bold Bold" panose="00000900000000000000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285874" y="152169"/>
            <a:ext cx="1022067" cy="1289476"/>
            <a:chOff x="0" y="0"/>
            <a:chExt cx="1362756" cy="1719301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1" cstate="print"/>
            <a:srcRect t="10179" b="10179"/>
            <a:stretch>
              <a:fillRect/>
            </a:stretch>
          </p:blipFill>
          <p:spPr>
            <a:xfrm>
              <a:off x="0" y="0"/>
              <a:ext cx="1362756" cy="1719301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814834" y="8088094"/>
            <a:ext cx="9831178" cy="19183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rocchi" panose="00000500000000000000"/>
              </a:rPr>
              <a:t>Работу</a:t>
            </a:r>
            <a:r>
              <a:rPr lang="en-US" sz="2670" dirty="0">
                <a:solidFill>
                  <a:srgbClr val="FFFFFF"/>
                </a:solidFill>
                <a:latin typeface="Trocchi" panose="00000500000000000000"/>
              </a:rPr>
              <a:t> </a:t>
            </a:r>
            <a:r>
              <a:rPr lang="en-US" sz="2670" dirty="0" err="1">
                <a:solidFill>
                  <a:srgbClr val="FFFFFF"/>
                </a:solidFill>
                <a:latin typeface="Trocchi" panose="00000500000000000000"/>
              </a:rPr>
              <a:t>выполнил</a:t>
            </a:r>
            <a:r>
              <a:rPr lang="en-US" sz="2670" dirty="0">
                <a:solidFill>
                  <a:srgbClr val="FFFFFF"/>
                </a:solidFill>
                <a:latin typeface="Trocchi" panose="00000500000000000000"/>
              </a:rPr>
              <a:t>: </a:t>
            </a:r>
            <a:r>
              <a:rPr lang="ru-RU" altLang="en-US" sz="2670" dirty="0" err="1">
                <a:solidFill>
                  <a:srgbClr val="FFFFFF"/>
                </a:solidFill>
                <a:latin typeface="Trocchi" panose="00000500000000000000"/>
              </a:rPr>
              <a:t>Коньков</a:t>
            </a:r>
            <a:r>
              <a:rPr lang="en-US" sz="2670" dirty="0">
                <a:solidFill>
                  <a:srgbClr val="FFFFFF"/>
                </a:solidFill>
                <a:latin typeface="Trocchi" panose="00000500000000000000"/>
              </a:rPr>
              <a:t> А.</a:t>
            </a:r>
            <a:r>
              <a:rPr lang="ru-RU" altLang="en-US" sz="2670" dirty="0">
                <a:solidFill>
                  <a:srgbClr val="FFFFFF"/>
                </a:solidFill>
                <a:latin typeface="Trocchi" panose="00000500000000000000"/>
              </a:rPr>
              <a:t>А</a:t>
            </a:r>
            <a:r>
              <a:rPr lang="en-US" sz="2670" dirty="0">
                <a:solidFill>
                  <a:srgbClr val="FFFFFF"/>
                </a:solidFill>
                <a:latin typeface="Trocchi" panose="00000500000000000000"/>
              </a:rPr>
              <a:t>.</a:t>
            </a:r>
            <a:endParaRPr lang="en-US" sz="2670" dirty="0">
              <a:solidFill>
                <a:srgbClr val="FFFFFF"/>
              </a:solidFill>
              <a:latin typeface="Trocchi" panose="0000050000000000000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rocchi" panose="00000500000000000000"/>
              </a:rPr>
              <a:t>Руководитель</a:t>
            </a:r>
            <a:r>
              <a:rPr lang="en-US" sz="2670" dirty="0">
                <a:solidFill>
                  <a:srgbClr val="FFFFFF"/>
                </a:solidFill>
                <a:latin typeface="Trocchi" panose="00000500000000000000"/>
              </a:rPr>
              <a:t>: </a:t>
            </a:r>
            <a:r>
              <a:rPr lang="ru-RU" sz="2670" dirty="0">
                <a:solidFill>
                  <a:srgbClr val="FFFFFF"/>
                </a:solidFill>
                <a:latin typeface="Trocchi" panose="00000500000000000000"/>
              </a:rPr>
              <a:t>Мирошниченко Г.В.</a:t>
            </a:r>
            <a:endParaRPr lang="en-US" sz="2670" dirty="0">
              <a:solidFill>
                <a:srgbClr val="FFFFFF"/>
              </a:solidFill>
              <a:latin typeface="Trocchi" panose="0000050000000000000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r>
              <a:rPr lang="en-US" sz="2670" dirty="0" err="1">
                <a:solidFill>
                  <a:srgbClr val="FFFFFF"/>
                </a:solidFill>
                <a:latin typeface="Trocchi" panose="00000500000000000000"/>
              </a:rPr>
              <a:t>Группа</a:t>
            </a:r>
            <a:r>
              <a:rPr lang="en-US" sz="2670" dirty="0">
                <a:solidFill>
                  <a:srgbClr val="FFFFFF"/>
                </a:solidFill>
                <a:latin typeface="Trocchi" panose="00000500000000000000"/>
              </a:rPr>
              <a:t>: Пр-3</a:t>
            </a:r>
            <a:r>
              <a:rPr lang="ru-RU" altLang="en-US" sz="2670" dirty="0">
                <a:solidFill>
                  <a:srgbClr val="FFFFFF"/>
                </a:solidFill>
                <a:latin typeface="Trocchi" panose="00000500000000000000"/>
              </a:rPr>
              <a:t>2</a:t>
            </a:r>
            <a:endParaRPr lang="en-US" sz="2670" dirty="0">
              <a:solidFill>
                <a:srgbClr val="FFFFFF"/>
              </a:solidFill>
              <a:latin typeface="Trocchi" panose="00000500000000000000"/>
            </a:endParaRPr>
          </a:p>
          <a:p>
            <a:pPr>
              <a:lnSpc>
                <a:spcPts val="3740"/>
              </a:lnSpc>
              <a:spcBef>
                <a:spcPct val="0"/>
              </a:spcBef>
            </a:pPr>
            <a:endParaRPr dirty="0"/>
          </a:p>
        </p:txBody>
      </p:sp>
      <p:grpSp>
        <p:nvGrpSpPr>
          <p:cNvPr id="11" name="Group 11"/>
          <p:cNvGrpSpPr/>
          <p:nvPr/>
        </p:nvGrpSpPr>
        <p:grpSpPr>
          <a:xfrm>
            <a:off x="0" y="7522183"/>
            <a:ext cx="7541480" cy="448676"/>
            <a:chOff x="0" y="0"/>
            <a:chExt cx="9605948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13" name="Group 13"/>
          <p:cNvGrpSpPr/>
          <p:nvPr/>
        </p:nvGrpSpPr>
        <p:grpSpPr>
          <a:xfrm>
            <a:off x="5169456" y="7522183"/>
            <a:ext cx="7541480" cy="448676"/>
            <a:chOff x="0" y="0"/>
            <a:chExt cx="9605948" cy="571500"/>
          </a:xfrm>
        </p:grpSpPr>
        <p:sp>
          <p:nvSpPr>
            <p:cNvPr id="14" name="Freeform 14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95571" y="0"/>
            <a:ext cx="16163729" cy="6856548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3479104" y="568525"/>
            <a:ext cx="11329791" cy="977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25"/>
              </a:lnSpc>
            </a:pPr>
            <a:r>
              <a:rPr lang="en-US" sz="6845">
                <a:solidFill>
                  <a:srgbClr val="F0F0EE"/>
                </a:solidFill>
                <a:latin typeface="HK Grotesk Bold"/>
              </a:rPr>
              <a:t>О разработке</a:t>
            </a:r>
            <a:endParaRPr lang="en-US" sz="6845">
              <a:solidFill>
                <a:srgbClr val="F0F0EE"/>
              </a:solidFill>
              <a:latin typeface="HK Grotesk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8218291" y="6562048"/>
            <a:ext cx="1918289" cy="1802521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5" name="AutoShape 5"/>
          <p:cNvSpPr/>
          <p:nvPr/>
        </p:nvSpPr>
        <p:spPr>
          <a:xfrm>
            <a:off x="12962365" y="6562048"/>
            <a:ext cx="1918289" cy="1802521"/>
          </a:xfrm>
          <a:prstGeom prst="rect">
            <a:avLst/>
          </a:prstGeom>
          <a:solidFill>
            <a:srgbClr val="F0F0EE"/>
          </a:solidFill>
        </p:spPr>
      </p:sp>
      <p:sp>
        <p:nvSpPr>
          <p:cNvPr id="6" name="AutoShape 6"/>
          <p:cNvSpPr/>
          <p:nvPr/>
        </p:nvSpPr>
        <p:spPr>
          <a:xfrm>
            <a:off x="3495038" y="6562048"/>
            <a:ext cx="1918289" cy="1802521"/>
          </a:xfrm>
          <a:prstGeom prst="rect">
            <a:avLst/>
          </a:prstGeom>
          <a:solidFill>
            <a:srgbClr val="F0F0EE"/>
          </a:solidFill>
        </p:spPr>
      </p:sp>
      <p:grpSp>
        <p:nvGrpSpPr>
          <p:cNvPr id="7" name="Group 7"/>
          <p:cNvGrpSpPr/>
          <p:nvPr/>
        </p:nvGrpSpPr>
        <p:grpSpPr>
          <a:xfrm>
            <a:off x="575409" y="879305"/>
            <a:ext cx="5022158" cy="298790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12594142" y="879305"/>
            <a:ext cx="5195182" cy="309084"/>
            <a:chOff x="0" y="0"/>
            <a:chExt cx="9605948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818653" y="6804242"/>
            <a:ext cx="1271061" cy="1355798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431401" y="6823076"/>
            <a:ext cx="1533713" cy="1318131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13151024" y="6856548"/>
            <a:ext cx="1450878" cy="1145633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1703905" y="2106714"/>
            <a:ext cx="14988705" cy="24593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5"/>
              </a:lnSpc>
            </a:pP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Программа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предназначена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для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комплексной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цифровизации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и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автоматизации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ключевых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процессов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в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колледже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.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Она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объединяет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в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едином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интерфейсе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работу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приёмной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комиссии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,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преподавателей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и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 </a:t>
            </a:r>
            <a:r>
              <a:rPr lang="en-US" altLang="en-US" sz="3425">
                <a:solidFill>
                  <a:srgbClr val="F0F0EE"/>
                </a:solidFill>
                <a:latin typeface="Arimo" panose="020B0604020202020204"/>
              </a:rPr>
              <a:t>студентов</a:t>
            </a:r>
            <a:r>
              <a:rPr lang="en-US" altLang="ru-RU" sz="3425">
                <a:solidFill>
                  <a:srgbClr val="F0F0EE"/>
                </a:solidFill>
                <a:latin typeface="Arimo" panose="020B0604020202020204"/>
              </a:rPr>
              <a:t>.</a:t>
            </a:r>
            <a:endParaRPr lang="en-US" altLang="ru-RU" sz="3425">
              <a:solidFill>
                <a:srgbClr val="F0F0EE"/>
              </a:solidFill>
              <a:latin typeface="Arimo" panose="020B0604020202020204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2532850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0F0EE"/>
                </a:solidFill>
                <a:latin typeface="HK Grotesk Light Bold"/>
              </a:rPr>
              <a:t>Основной учет </a:t>
            </a:r>
            <a:endParaRPr lang="en-US" sz="3200">
              <a:solidFill>
                <a:srgbClr val="F0F0EE"/>
              </a:solidFill>
              <a:latin typeface="HK Grotesk Light Bold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7256102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0F0EE"/>
                </a:solidFill>
                <a:latin typeface="HK Grotesk Light Bold"/>
              </a:rPr>
              <a:t>Система</a:t>
            </a:r>
            <a:endParaRPr lang="en-US" sz="3200">
              <a:solidFill>
                <a:srgbClr val="F0F0EE"/>
              </a:solidFill>
              <a:latin typeface="HK Grotesk Ligh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2000177" y="8711347"/>
            <a:ext cx="3842667" cy="546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>
                <a:solidFill>
                  <a:srgbClr val="F0F0EE"/>
                </a:solidFill>
                <a:latin typeface="HK Grotesk Light Bold"/>
              </a:rPr>
              <a:t>Картотека</a:t>
            </a:r>
            <a:endParaRPr lang="en-US" sz="3200">
              <a:solidFill>
                <a:srgbClr val="F0F0EE"/>
              </a:solidFill>
              <a:latin typeface="HK Grotesk Light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724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7259300" cy="5318624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388721" y="693277"/>
            <a:ext cx="11150350" cy="1141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8510"/>
              </a:lnSpc>
            </a:pPr>
            <a:r>
              <a:rPr lang="en-US" sz="8510" spc="-170">
                <a:solidFill>
                  <a:srgbClr val="F0F0EE"/>
                </a:solidFill>
                <a:latin typeface="HK Grotesk Bold"/>
              </a:rPr>
              <a:t>Цели и задачи проекта</a:t>
            </a:r>
            <a:endParaRPr lang="en-US" sz="8510" spc="-170">
              <a:solidFill>
                <a:srgbClr val="F0F0EE"/>
              </a:solidFill>
              <a:latin typeface="HK Grotesk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388721" y="2523686"/>
            <a:ext cx="11960924" cy="17238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80"/>
              </a:lnSpc>
            </a:pP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Целью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является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разработка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программы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для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системы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библиотечных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процессов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от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создания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библиографии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до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учета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читателей</a:t>
            </a:r>
            <a:r>
              <a:rPr lang="en-US" sz="3525" dirty="0">
                <a:solidFill>
                  <a:srgbClr val="17242D"/>
                </a:solidFill>
                <a:latin typeface="HK Grotesk Light Bold"/>
              </a:rPr>
              <a:t> и </a:t>
            </a:r>
            <a:r>
              <a:rPr lang="en-US" sz="3525" dirty="0" err="1">
                <a:solidFill>
                  <a:srgbClr val="17242D"/>
                </a:solidFill>
                <a:latin typeface="HK Grotesk Light Bold"/>
              </a:rPr>
              <a:t>книговыдачи</a:t>
            </a:r>
            <a:endParaRPr lang="en-US" sz="3525" dirty="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5" name="TextBox 5"/>
          <p:cNvSpPr txBox="1"/>
          <p:nvPr/>
        </p:nvSpPr>
        <p:spPr>
          <a:xfrm rot="-5400000">
            <a:off x="-1935679" y="6852641"/>
            <a:ext cx="5109793" cy="13908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0645"/>
              </a:lnSpc>
            </a:pPr>
            <a:r>
              <a:rPr lang="en-US" sz="8190">
                <a:solidFill>
                  <a:srgbClr val="45AD7E"/>
                </a:solidFill>
                <a:latin typeface="20db Bold"/>
              </a:rPr>
              <a:t>ЗАДАЧИ</a:t>
            </a:r>
            <a:endParaRPr lang="en-US" sz="8190">
              <a:solidFill>
                <a:srgbClr val="45AD7E"/>
              </a:solidFill>
              <a:latin typeface="20db Bold"/>
            </a:endParaRPr>
          </a:p>
        </p:txBody>
      </p:sp>
      <p:grpSp>
        <p:nvGrpSpPr>
          <p:cNvPr id="6" name="Group 6"/>
          <p:cNvGrpSpPr/>
          <p:nvPr/>
        </p:nvGrpSpPr>
        <p:grpSpPr>
          <a:xfrm>
            <a:off x="12993905" y="1447800"/>
            <a:ext cx="4684495" cy="4265395"/>
            <a:chOff x="0" y="0"/>
            <a:chExt cx="1913890" cy="1742663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913890" cy="1742663"/>
            </a:xfrm>
            <a:custGeom>
              <a:avLst/>
              <a:gdLst/>
              <a:ahLst/>
              <a:cxnLst/>
              <a:rect l="l" t="t" r="r" b="b"/>
              <a:pathLst>
                <a:path w="1913890" h="1742663">
                  <a:moveTo>
                    <a:pt x="0" y="0"/>
                  </a:moveTo>
                  <a:lnTo>
                    <a:pt x="0" y="1742663"/>
                  </a:lnTo>
                  <a:lnTo>
                    <a:pt x="1913890" y="1742663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681703"/>
                  </a:moveTo>
                  <a:lnTo>
                    <a:pt x="59690" y="1681703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681703"/>
                  </a:lnTo>
                  <a:close/>
                </a:path>
              </a:pathLst>
            </a:custGeom>
            <a:solidFill>
              <a:srgbClr val="FFFFFF">
                <a:alpha val="36862"/>
              </a:srgbClr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3191343" y="1913354"/>
            <a:ext cx="4605505" cy="8373646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0" y="1593064"/>
            <a:ext cx="8142232" cy="484417"/>
            <a:chOff x="0" y="0"/>
            <a:chExt cx="9605948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sp>
        <p:nvSpPr>
          <p:cNvPr id="11" name="TextBox 11"/>
          <p:cNvSpPr txBox="1"/>
          <p:nvPr/>
        </p:nvSpPr>
        <p:spPr>
          <a:xfrm>
            <a:off x="1897180" y="5852044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en-US" sz="2685">
                <a:solidFill>
                  <a:srgbClr val="FFFFFF"/>
                </a:solidFill>
                <a:latin typeface="Trocchi" panose="00000500000000000000"/>
              </a:rPr>
              <a:t>Изучить актуальную информацию по области данной задачи</a:t>
            </a:r>
            <a:endParaRPr 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897180" y="6651908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en-US" sz="2685">
                <a:solidFill>
                  <a:srgbClr val="FFFFFF"/>
                </a:solidFill>
                <a:latin typeface="Trocchi" panose="00000500000000000000"/>
              </a:rPr>
              <a:t>Подобрать средства для разработки программного продукта</a:t>
            </a:r>
            <a:endParaRPr 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897180" y="7399937"/>
            <a:ext cx="10677625" cy="4486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en-US" sz="2685">
                <a:solidFill>
                  <a:srgbClr val="FFFFFF"/>
                </a:solidFill>
                <a:latin typeface="Trocchi" panose="00000500000000000000"/>
              </a:rPr>
              <a:t>Подобрать наиболее удобный для пользователя дизайн</a:t>
            </a:r>
            <a:endParaRPr 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sp>
        <p:nvSpPr>
          <p:cNvPr id="14" name="TextBox 14"/>
          <p:cNvSpPr txBox="1"/>
          <p:nvPr/>
        </p:nvSpPr>
        <p:spPr>
          <a:xfrm>
            <a:off x="1897180" y="8064531"/>
            <a:ext cx="10677625" cy="9179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760"/>
              </a:lnSpc>
              <a:spcBef>
                <a:spcPct val="0"/>
              </a:spcBef>
            </a:pPr>
            <a:r>
              <a:rPr lang="en-US" sz="2685">
                <a:solidFill>
                  <a:srgbClr val="FFFFFF"/>
                </a:solidFill>
                <a:latin typeface="Trocchi" panose="00000500000000000000"/>
              </a:rPr>
              <a:t>Учесть требования к задаче и разработать подобранный интерфейс</a:t>
            </a:r>
            <a:endParaRPr lang="en-US" sz="2685">
              <a:solidFill>
                <a:srgbClr val="FFFFFF"/>
              </a:solidFill>
              <a:latin typeface="Trocchi" panose="00000500000000000000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543050" y="6000165"/>
            <a:ext cx="200025" cy="200025"/>
            <a:chOff x="0" y="0"/>
            <a:chExt cx="1913890" cy="191389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1543050" y="6800029"/>
            <a:ext cx="200025" cy="200025"/>
            <a:chOff x="0" y="0"/>
            <a:chExt cx="1913890" cy="191389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19" name="Group 19"/>
          <p:cNvGrpSpPr/>
          <p:nvPr/>
        </p:nvGrpSpPr>
        <p:grpSpPr>
          <a:xfrm>
            <a:off x="1543050" y="7548058"/>
            <a:ext cx="200025" cy="200025"/>
            <a:chOff x="0" y="0"/>
            <a:chExt cx="1913890" cy="191389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21" name="Group 21"/>
          <p:cNvGrpSpPr/>
          <p:nvPr/>
        </p:nvGrpSpPr>
        <p:grpSpPr>
          <a:xfrm>
            <a:off x="1543050" y="8209965"/>
            <a:ext cx="200025" cy="200025"/>
            <a:chOff x="0" y="0"/>
            <a:chExt cx="1913890" cy="191389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913890" cy="1913890"/>
            </a:xfrm>
            <a:custGeom>
              <a:avLst/>
              <a:gdLst/>
              <a:ahLst/>
              <a:cxnLst/>
              <a:rect l="l" t="t" r="r" b="b"/>
              <a:pathLst>
                <a:path w="1913890" h="1913890">
                  <a:moveTo>
                    <a:pt x="0" y="0"/>
                  </a:moveTo>
                  <a:lnTo>
                    <a:pt x="0" y="1913890"/>
                  </a:lnTo>
                  <a:lnTo>
                    <a:pt x="1913890" y="1913890"/>
                  </a:lnTo>
                  <a:lnTo>
                    <a:pt x="1913890" y="0"/>
                  </a:lnTo>
                  <a:lnTo>
                    <a:pt x="0" y="0"/>
                  </a:lnTo>
                  <a:close/>
                  <a:moveTo>
                    <a:pt x="1852930" y="1852930"/>
                  </a:moveTo>
                  <a:lnTo>
                    <a:pt x="59690" y="1852930"/>
                  </a:lnTo>
                  <a:lnTo>
                    <a:pt x="59690" y="59690"/>
                  </a:lnTo>
                  <a:lnTo>
                    <a:pt x="1852930" y="59690"/>
                  </a:lnTo>
                  <a:lnTo>
                    <a:pt x="1852930" y="185293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83796" y="0"/>
            <a:ext cx="3104204" cy="10287000"/>
          </a:xfrm>
          <a:prstGeom prst="rect">
            <a:avLst/>
          </a:prstGeom>
          <a:solidFill>
            <a:srgbClr val="17242D"/>
          </a:solidFill>
        </p:spPr>
      </p:sp>
      <p:sp>
        <p:nvSpPr>
          <p:cNvPr id="3" name="TextBox 3"/>
          <p:cNvSpPr txBox="1"/>
          <p:nvPr/>
        </p:nvSpPr>
        <p:spPr>
          <a:xfrm rot="5400000">
            <a:off x="12385084" y="3985314"/>
            <a:ext cx="8387304" cy="17141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95"/>
              </a:lnSpc>
            </a:pPr>
            <a:r>
              <a:rPr lang="en-US" sz="8100" spc="-161">
                <a:solidFill>
                  <a:srgbClr val="45AD7E"/>
                </a:solidFill>
                <a:latin typeface="HK Grotesk Medium Bold"/>
              </a:rPr>
              <a:t>Функциональные характеристики</a:t>
            </a:r>
            <a:endParaRPr lang="en-US" sz="8100" spc="-161">
              <a:solidFill>
                <a:srgbClr val="45AD7E"/>
              </a:solidFill>
              <a:latin typeface="HK Grotesk Medium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06523"/>
            <a:ext cx="1836263" cy="9931427"/>
          </a:xfrm>
          <a:prstGeom prst="rect">
            <a:avLst/>
          </a:prstGeom>
          <a:solidFill>
            <a:srgbClr val="45AD7E"/>
          </a:solidFill>
        </p:spPr>
      </p:sp>
      <p:grpSp>
        <p:nvGrpSpPr>
          <p:cNvPr id="5" name="Group 5"/>
          <p:cNvGrpSpPr/>
          <p:nvPr/>
        </p:nvGrpSpPr>
        <p:grpSpPr>
          <a:xfrm>
            <a:off x="0" y="406523"/>
            <a:ext cx="1836263" cy="9880477"/>
            <a:chOff x="0" y="0"/>
            <a:chExt cx="2448351" cy="1317396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1" cstate="print">
              <a:alphaModFix amt="36000"/>
            </a:blip>
            <a:srcRect l="15766" r="71851"/>
            <a:stretch>
              <a:fillRect/>
            </a:stretch>
          </p:blipFill>
          <p:spPr>
            <a:xfrm>
              <a:off x="0" y="0"/>
              <a:ext cx="2448351" cy="13173969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0145768" y="164314"/>
            <a:ext cx="8142232" cy="484417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504595" y="237583"/>
            <a:ext cx="5679201" cy="337881"/>
            <a:chOff x="0" y="0"/>
            <a:chExt cx="9605948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17242D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286519" y="2033727"/>
            <a:ext cx="2215496" cy="190408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406690" y="4479709"/>
            <a:ext cx="1975154" cy="197515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544333" y="7042600"/>
            <a:ext cx="1957682" cy="148231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67237" y="1936652"/>
            <a:ext cx="7232119" cy="5715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>
                <a:solidFill>
                  <a:srgbClr val="1D7151"/>
                </a:solidFill>
                <a:latin typeface="HK Grotesk Medium"/>
              </a:rPr>
              <a:t>ПРИВЛЕКАТЕЛЬНОСТЬ</a:t>
            </a:r>
            <a:endParaRPr lang="en-US" sz="4200" spc="-84">
              <a:solidFill>
                <a:srgbClr val="1D7151"/>
              </a:solidFill>
              <a:latin typeface="HK Grotesk Medium"/>
            </a:endParaRPr>
          </a:p>
        </p:txBody>
      </p:sp>
      <p:sp>
        <p:nvSpPr>
          <p:cNvPr id="15" name="TextBox 15"/>
          <p:cNvSpPr txBox="1"/>
          <p:nvPr/>
        </p:nvSpPr>
        <p:spPr>
          <a:xfrm>
            <a:off x="4883027" y="2451076"/>
            <a:ext cx="10525483" cy="14867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955"/>
              </a:lnSpc>
            </a:pPr>
            <a:r>
              <a:rPr lang="en-US" sz="2825" spc="56">
                <a:solidFill>
                  <a:srgbClr val="17242D"/>
                </a:solidFill>
                <a:latin typeface="HK Grotesk Light"/>
              </a:rPr>
              <a:t>Хороший интерфейс должен быть привлекательным, чтобы доставлять пользователю удовольствие при работе с программным продуктом.</a:t>
            </a:r>
            <a:endParaRPr lang="en-US" sz="2825" spc="56">
              <a:solidFill>
                <a:srgbClr val="17242D"/>
              </a:solidFill>
              <a:latin typeface="HK Grotesk Light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4867237" y="4479709"/>
            <a:ext cx="8890199" cy="1785056"/>
            <a:chOff x="0" y="0"/>
            <a:chExt cx="11853599" cy="2380075"/>
          </a:xfrm>
        </p:grpSpPr>
        <p:sp>
          <p:nvSpPr>
            <p:cNvPr id="17" name="TextBox 17"/>
            <p:cNvSpPr txBox="1"/>
            <p:nvPr/>
          </p:nvSpPr>
          <p:spPr>
            <a:xfrm>
              <a:off x="0" y="66675"/>
              <a:ext cx="11853599" cy="784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>
                  <a:solidFill>
                    <a:srgbClr val="1D7151"/>
                  </a:solidFill>
                  <a:latin typeface="HK Grotesk Medium"/>
                </a:rPr>
                <a:t>ЛАКОНИЧНОСТЬ И ПРОСТОТА</a:t>
              </a:r>
              <a:endParaRPr lang="en-US" sz="4200" spc="-84">
                <a:solidFill>
                  <a:srgbClr val="1D7151"/>
                </a:solidFill>
                <a:latin typeface="HK Grotesk Medium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0" y="997484"/>
              <a:ext cx="11853599" cy="138259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>
                  <a:solidFill>
                    <a:srgbClr val="17242D"/>
                  </a:solidFill>
                  <a:latin typeface="HK Grotesk Light"/>
                </a:rPr>
                <a:t>Интерфейс не должен быть перегружен лишней информацией.</a:t>
              </a:r>
              <a:endParaRPr lang="en-US" sz="3000" spc="60">
                <a:solidFill>
                  <a:srgbClr val="17242D"/>
                </a:solidFill>
                <a:latin typeface="HK Grotesk Light"/>
              </a:endParaRP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883027" y="6768366"/>
            <a:ext cx="9565679" cy="2848193"/>
            <a:chOff x="0" y="0"/>
            <a:chExt cx="12754239" cy="3797591"/>
          </a:xfrm>
        </p:grpSpPr>
        <p:sp>
          <p:nvSpPr>
            <p:cNvPr id="20" name="TextBox 20"/>
            <p:cNvSpPr txBox="1"/>
            <p:nvPr/>
          </p:nvSpPr>
          <p:spPr>
            <a:xfrm>
              <a:off x="0" y="66675"/>
              <a:ext cx="12754239" cy="7843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4200" spc="-84">
                  <a:solidFill>
                    <a:srgbClr val="1D7151"/>
                  </a:solidFill>
                  <a:latin typeface="HK Grotesk Medium"/>
                </a:rPr>
                <a:t>СИСТЕМАТИЗАЦИЯ</a:t>
              </a:r>
              <a:endParaRPr lang="en-US" sz="4200" spc="-84">
                <a:solidFill>
                  <a:srgbClr val="1D7151"/>
                </a:solidFill>
                <a:latin typeface="HK Grotesk Medium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0" y="997484"/>
              <a:ext cx="12754239" cy="28001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4200"/>
                </a:lnSpc>
              </a:pPr>
              <a:r>
                <a:rPr lang="en-US" sz="3000" spc="60">
                  <a:solidFill>
                    <a:srgbClr val="17242D"/>
                  </a:solidFill>
                  <a:latin typeface="HK Grotesk Light"/>
                </a:rPr>
                <a:t>Упрощения и автоматизации операций, связанных с регистрацией, систематизаций, поиском и обработкой данных о с</a:t>
              </a:r>
              <a:r>
                <a:rPr lang="en-US" sz="3000" spc="59">
                  <a:solidFill>
                    <a:srgbClr val="17242D"/>
                  </a:solidFill>
                  <a:latin typeface="HK Grotesk Light"/>
                </a:rPr>
                <a:t>тудентах</a:t>
              </a:r>
              <a:endParaRPr lang="en-US" sz="3000" spc="59">
                <a:solidFill>
                  <a:srgbClr val="17242D"/>
                </a:solidFill>
                <a:latin typeface="HK Grotesk Light"/>
              </a:endParaRPr>
            </a:p>
            <a:p>
              <a:pPr>
                <a:lnSpc>
                  <a:spcPts val="4200"/>
                </a:lnSpc>
              </a:pP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0" y="9616559"/>
            <a:ext cx="5679201" cy="337881"/>
            <a:chOff x="0" y="0"/>
            <a:chExt cx="9605948" cy="571500"/>
          </a:xfrm>
        </p:grpSpPr>
        <p:sp>
          <p:nvSpPr>
            <p:cNvPr id="23" name="Freeform 23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17242D"/>
            </a:solidFill>
          </p:spPr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5183796" y="0"/>
            <a:ext cx="3104204" cy="10287000"/>
          </a:xfrm>
          <a:prstGeom prst="rect">
            <a:avLst/>
          </a:prstGeom>
          <a:solidFill>
            <a:srgbClr val="17242D"/>
          </a:solidFill>
        </p:spPr>
      </p:sp>
      <p:sp>
        <p:nvSpPr>
          <p:cNvPr id="3" name="TextBox 3"/>
          <p:cNvSpPr txBox="1"/>
          <p:nvPr/>
        </p:nvSpPr>
        <p:spPr>
          <a:xfrm rot="5400000">
            <a:off x="12385084" y="3987150"/>
            <a:ext cx="8387304" cy="17104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395"/>
              </a:lnSpc>
            </a:pPr>
            <a:r>
              <a:rPr lang="ru-RU" sz="8100" spc="-161" dirty="0">
                <a:solidFill>
                  <a:srgbClr val="45AD7E"/>
                </a:solidFill>
                <a:latin typeface="HK Grotesk Medium Bold"/>
              </a:rPr>
              <a:t>Используемые инструменты</a:t>
            </a:r>
            <a:endParaRPr lang="en-US" sz="8100" spc="-161" dirty="0">
              <a:solidFill>
                <a:srgbClr val="45AD7E"/>
              </a:solidFill>
              <a:latin typeface="HK Grotesk Medium Bold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0" y="406523"/>
            <a:ext cx="1836263" cy="9931427"/>
          </a:xfrm>
          <a:prstGeom prst="rect">
            <a:avLst/>
          </a:prstGeom>
          <a:solidFill>
            <a:srgbClr val="45AD7E"/>
          </a:solidFill>
        </p:spPr>
      </p:sp>
      <p:grpSp>
        <p:nvGrpSpPr>
          <p:cNvPr id="5" name="Group 5"/>
          <p:cNvGrpSpPr/>
          <p:nvPr/>
        </p:nvGrpSpPr>
        <p:grpSpPr>
          <a:xfrm>
            <a:off x="0" y="406523"/>
            <a:ext cx="1836263" cy="9880477"/>
            <a:chOff x="0" y="0"/>
            <a:chExt cx="2448351" cy="13173969"/>
          </a:xfrm>
        </p:grpSpPr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1" cstate="print">
              <a:alphaModFix amt="36000"/>
            </a:blip>
            <a:srcRect l="15766" r="71851"/>
            <a:stretch>
              <a:fillRect/>
            </a:stretch>
          </p:blipFill>
          <p:spPr>
            <a:xfrm>
              <a:off x="0" y="0"/>
              <a:ext cx="2448351" cy="13173969"/>
            </a:xfrm>
            <a:prstGeom prst="rect">
              <a:avLst/>
            </a:prstGeom>
          </p:spPr>
        </p:pic>
      </p:grpSp>
      <p:grpSp>
        <p:nvGrpSpPr>
          <p:cNvPr id="7" name="Group 7"/>
          <p:cNvGrpSpPr/>
          <p:nvPr/>
        </p:nvGrpSpPr>
        <p:grpSpPr>
          <a:xfrm>
            <a:off x="10145768" y="164314"/>
            <a:ext cx="8142232" cy="484417"/>
            <a:chOff x="0" y="0"/>
            <a:chExt cx="9605948" cy="571500"/>
          </a:xfrm>
        </p:grpSpPr>
        <p:sp>
          <p:nvSpPr>
            <p:cNvPr id="8" name="Freeform 8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EFF0F2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9504595" y="237583"/>
            <a:ext cx="5679201" cy="337881"/>
            <a:chOff x="0" y="0"/>
            <a:chExt cx="9605948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17242D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2286519" y="2033727"/>
            <a:ext cx="2215496" cy="1904081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2406690" y="4479709"/>
            <a:ext cx="1975154" cy="1975154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544333" y="7042600"/>
            <a:ext cx="1957682" cy="1482318"/>
          </a:xfrm>
          <a:prstGeom prst="rect">
            <a:avLst/>
          </a:prstGeom>
        </p:spPr>
      </p:pic>
      <p:sp>
        <p:nvSpPr>
          <p:cNvPr id="14" name="TextBox 14"/>
          <p:cNvSpPr txBox="1"/>
          <p:nvPr/>
        </p:nvSpPr>
        <p:spPr>
          <a:xfrm>
            <a:off x="4876762" y="1934747"/>
            <a:ext cx="7232119" cy="5384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altLang="en-US" sz="4200" spc="-84" dirty="0">
                <a:solidFill>
                  <a:srgbClr val="1D7151"/>
                </a:solidFill>
                <a:latin typeface="HK Grotesk Medium"/>
                <a:sym typeface="+mn-ea"/>
              </a:rPr>
              <a:t>CardView, fragment</a:t>
            </a:r>
            <a:endParaRPr lang="ru-RU" altLang="en-US" sz="4200" spc="-84" dirty="0">
              <a:solidFill>
                <a:srgbClr val="1D7151"/>
              </a:solidFill>
              <a:latin typeface="HK Grotesk Medium"/>
              <a:sym typeface="+mn-ea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4867237" y="4529715"/>
            <a:ext cx="8890199" cy="546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200"/>
              </a:lnSpc>
            </a:pPr>
            <a:r>
              <a:rPr lang="en-US" sz="4200" spc="-84" dirty="0">
                <a:solidFill>
                  <a:srgbClr val="1D7151"/>
                </a:solidFill>
                <a:latin typeface="HK Grotesk Medium"/>
              </a:rPr>
              <a:t>ROOM</a:t>
            </a:r>
            <a:endParaRPr lang="en-US" sz="4200" spc="-84" dirty="0">
              <a:solidFill>
                <a:srgbClr val="1D7151"/>
              </a:solidFill>
              <a:latin typeface="HK Grotesk Medium"/>
            </a:endParaRPr>
          </a:p>
        </p:txBody>
      </p:sp>
      <p:grpSp>
        <p:nvGrpSpPr>
          <p:cNvPr id="22" name="Group 22"/>
          <p:cNvGrpSpPr/>
          <p:nvPr/>
        </p:nvGrpSpPr>
        <p:grpSpPr>
          <a:xfrm>
            <a:off x="0" y="9616559"/>
            <a:ext cx="5679201" cy="337881"/>
            <a:chOff x="0" y="0"/>
            <a:chExt cx="9605948" cy="571500"/>
          </a:xfrm>
        </p:grpSpPr>
        <p:sp>
          <p:nvSpPr>
            <p:cNvPr id="23" name="Freeform 23"/>
            <p:cNvSpPr/>
            <p:nvPr/>
          </p:nvSpPr>
          <p:spPr>
            <a:xfrm>
              <a:off x="0" y="255270"/>
              <a:ext cx="9605948" cy="69850"/>
            </a:xfrm>
            <a:custGeom>
              <a:avLst/>
              <a:gdLst/>
              <a:ahLst/>
              <a:cxnLst/>
              <a:rect l="l" t="t" r="r" b="b"/>
              <a:pathLst>
                <a:path w="9605948" h="69850">
                  <a:moveTo>
                    <a:pt x="9315118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9605948" y="69850"/>
                  </a:lnTo>
                  <a:lnTo>
                    <a:pt x="9605948" y="0"/>
                  </a:lnTo>
                  <a:close/>
                </a:path>
              </a:pathLst>
            </a:custGeom>
            <a:solidFill>
              <a:srgbClr val="17242D"/>
            </a:solidFill>
          </p:spPr>
        </p:sp>
      </p:grpSp>
      <p:sp>
        <p:nvSpPr>
          <p:cNvPr id="18" name="Текстовое поле 17"/>
          <p:cNvSpPr txBox="1"/>
          <p:nvPr/>
        </p:nvSpPr>
        <p:spPr>
          <a:xfrm>
            <a:off x="4867275" y="7124700"/>
            <a:ext cx="9144000" cy="6299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200"/>
              </a:lnSpc>
            </a:pPr>
            <a:r>
              <a:rPr lang="en-US" altLang="en-US" sz="4200" spc="-84" dirty="0">
                <a:solidFill>
                  <a:srgbClr val="1D7151"/>
                </a:solidFill>
                <a:latin typeface="HK Grotesk Medium"/>
                <a:sym typeface="+mn-ea"/>
              </a:rPr>
              <a:t>scrollViewHorizontal</a:t>
            </a:r>
            <a:endParaRPr lang="en-US" altLang="en-US" sz="4200" spc="-84" dirty="0">
              <a:solidFill>
                <a:srgbClr val="1D7151"/>
              </a:solidFill>
              <a:latin typeface="HK Grotesk Medium"/>
              <a:sym typeface="+mn-e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056909"/>
            <a:ext cx="17259300" cy="2230091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661357" y="1197863"/>
            <a:ext cx="14058070" cy="25387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rgbClr val="1D7151"/>
                </a:solidFill>
                <a:latin typeface="HK Grotesk Bold"/>
              </a:rPr>
              <a:t>Окно входа</a:t>
            </a:r>
            <a:br>
              <a:rPr lang="ru-RU" altLang="en-US" sz="8800" spc="-175">
                <a:solidFill>
                  <a:srgbClr val="1D7151"/>
                </a:solidFill>
                <a:latin typeface="HK Grotesk Bold"/>
              </a:rPr>
            </a:br>
            <a:r>
              <a:rPr lang="ru-RU" altLang="en-US" sz="8800" spc="-175">
                <a:solidFill>
                  <a:srgbClr val="1D7151"/>
                </a:solidFill>
                <a:latin typeface="HK Grotesk Bold"/>
              </a:rPr>
              <a:t>+ г</a:t>
            </a:r>
            <a:r>
              <a:rPr lang="en-US" sz="8800" spc="-175">
                <a:solidFill>
                  <a:srgbClr val="1D7151"/>
                </a:solidFill>
                <a:latin typeface="HK Grotesk Bold"/>
              </a:rPr>
              <a:t>лавное окно</a:t>
            </a:r>
            <a:endParaRPr lang="en-US" sz="8800" spc="-175">
              <a:solidFill>
                <a:srgbClr val="1D7151"/>
              </a:solidFill>
              <a:latin typeface="HK Grotesk Bold"/>
            </a:endParaRPr>
          </a:p>
          <a:p>
            <a:pPr>
              <a:lnSpc>
                <a:spcPts val="6600"/>
              </a:lnSpc>
            </a:pPr>
            <a:r>
              <a:rPr lang="en-US" sz="8800" spc="-175">
                <a:solidFill>
                  <a:srgbClr val="1D7151"/>
                </a:solidFill>
                <a:latin typeface="HK Grotesk Bold"/>
              </a:rPr>
              <a:t>программы</a:t>
            </a:r>
            <a:endParaRPr lang="ru-RU" altLang="en-US" sz="8800" spc="-175">
              <a:solidFill>
                <a:srgbClr val="1D7151"/>
              </a:solidFill>
              <a:latin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7803" y="8388964"/>
            <a:ext cx="1221581" cy="1221581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1785" y="8457472"/>
            <a:ext cx="10372552" cy="15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3687" y="8567603"/>
            <a:ext cx="1049813" cy="86430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09287" y="4002342"/>
            <a:ext cx="7363108" cy="5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20"/>
              </a:lnSpc>
            </a:pP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включает в себя: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pic>
        <p:nvPicPr>
          <p:cNvPr id="18" name="Изображение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0" y="647700"/>
            <a:ext cx="2835910" cy="5878195"/>
          </a:xfrm>
          <a:prstGeom prst="rect">
            <a:avLst/>
          </a:prstGeom>
        </p:spPr>
      </p:pic>
      <p:pic>
        <p:nvPicPr>
          <p:cNvPr id="19" name="Изображение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82600" y="565785"/>
            <a:ext cx="2879090" cy="5968365"/>
          </a:xfrm>
          <a:prstGeom prst="rect">
            <a:avLst/>
          </a:prstGeom>
        </p:spPr>
      </p:pic>
      <p:sp>
        <p:nvSpPr>
          <p:cNvPr id="21" name="Текстовое поле 20"/>
          <p:cNvSpPr txBox="1"/>
          <p:nvPr/>
        </p:nvSpPr>
        <p:spPr>
          <a:xfrm>
            <a:off x="8305800" y="6819900"/>
            <a:ext cx="9144000" cy="709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Окно входа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2034520" y="6631940"/>
            <a:ext cx="9144000" cy="1327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Окно главного меню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Приемной комиссии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056909"/>
            <a:ext cx="17259300" cy="2230091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661357" y="1197863"/>
            <a:ext cx="14058070" cy="1692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ru-RU" altLang="en-US" sz="8800" spc="-175">
                <a:solidFill>
                  <a:srgbClr val="1D7151"/>
                </a:solidFill>
                <a:latin typeface="HK Grotesk Bold"/>
              </a:rPr>
              <a:t>Г</a:t>
            </a:r>
            <a:r>
              <a:rPr lang="en-US" sz="8800" spc="-175">
                <a:solidFill>
                  <a:srgbClr val="1D7151"/>
                </a:solidFill>
                <a:latin typeface="HK Grotesk Bold"/>
              </a:rPr>
              <a:t>лавное окно</a:t>
            </a:r>
            <a:endParaRPr lang="en-US" sz="8800" spc="-175">
              <a:solidFill>
                <a:srgbClr val="1D7151"/>
              </a:solidFill>
              <a:latin typeface="HK Grotesk Bold"/>
            </a:endParaRPr>
          </a:p>
          <a:p>
            <a:pPr>
              <a:lnSpc>
                <a:spcPts val="6600"/>
              </a:lnSpc>
            </a:pPr>
            <a:r>
              <a:rPr lang="en-US" sz="8800" spc="-175">
                <a:solidFill>
                  <a:srgbClr val="1D7151"/>
                </a:solidFill>
                <a:latin typeface="HK Grotesk Bold"/>
              </a:rPr>
              <a:t>программы</a:t>
            </a:r>
            <a:endParaRPr lang="ru-RU" altLang="en-US" sz="8800" spc="-175">
              <a:solidFill>
                <a:srgbClr val="1D7151"/>
              </a:solidFill>
              <a:latin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7803" y="8388964"/>
            <a:ext cx="1221581" cy="1221581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1785" y="8457472"/>
            <a:ext cx="10372552" cy="15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3687" y="8567603"/>
            <a:ext cx="1049813" cy="86430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09287" y="4002342"/>
            <a:ext cx="7363108" cy="5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20"/>
              </a:lnSpc>
            </a:pP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включает в себя: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4648200" y="6210300"/>
            <a:ext cx="9144000" cy="194564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Окно главного меню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Преподавателя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  <a:p>
            <a:pPr>
              <a:lnSpc>
                <a:spcPts val="4820"/>
              </a:lnSpc>
            </a:pP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1734800" y="6210300"/>
            <a:ext cx="9144000" cy="1327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Окно главного меню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Студента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10600" y="114300"/>
            <a:ext cx="2982595" cy="5949950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0" y="266700"/>
            <a:ext cx="2891155" cy="582231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056909"/>
            <a:ext cx="17259300" cy="2230091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661357" y="1197863"/>
            <a:ext cx="14058070" cy="84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ru-RU" sz="8800" spc="-175">
                <a:solidFill>
                  <a:srgbClr val="1D7151"/>
                </a:solidFill>
                <a:latin typeface="HK Grotesk Bold"/>
              </a:rPr>
              <a:t>Фрагменты</a:t>
            </a:r>
            <a:endParaRPr lang="ru-RU" sz="8800" spc="-175">
              <a:solidFill>
                <a:srgbClr val="1D7151"/>
              </a:solidFill>
              <a:latin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7803" y="8388964"/>
            <a:ext cx="1221581" cy="1221581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1785" y="8457472"/>
            <a:ext cx="10372552" cy="15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3687" y="8567603"/>
            <a:ext cx="1049813" cy="86430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09287" y="4002342"/>
            <a:ext cx="7363108" cy="5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20"/>
              </a:lnSpc>
            </a:pP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включает в себя: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4648200" y="6210300"/>
            <a:ext cx="9144000" cy="1327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Фрагмент добавления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Специальности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0668000" y="6828155"/>
            <a:ext cx="9144000" cy="709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Фрагмент отображения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6400" y="342900"/>
            <a:ext cx="2736215" cy="5825490"/>
          </a:xfrm>
          <a:prstGeom prst="rect">
            <a:avLst/>
          </a:prstGeom>
        </p:spPr>
      </p:pic>
      <p:pic>
        <p:nvPicPr>
          <p:cNvPr id="17" name="Изображение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0" y="342900"/>
            <a:ext cx="2851150" cy="613791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056909"/>
            <a:ext cx="17259300" cy="2230091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661357" y="1197863"/>
            <a:ext cx="14058070" cy="84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ru-RU" sz="8800" spc="-175">
                <a:solidFill>
                  <a:srgbClr val="1D7151"/>
                </a:solidFill>
                <a:latin typeface="HK Grotesk Bold"/>
              </a:rPr>
              <a:t>Фрагменты</a:t>
            </a:r>
            <a:endParaRPr lang="ru-RU" sz="8800" spc="-175">
              <a:solidFill>
                <a:srgbClr val="1D7151"/>
              </a:solidFill>
              <a:latin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7803" y="8388964"/>
            <a:ext cx="1221581" cy="1221581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1785" y="8457472"/>
            <a:ext cx="10372552" cy="15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3687" y="8567603"/>
            <a:ext cx="1049813" cy="86430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09287" y="4002342"/>
            <a:ext cx="7363108" cy="5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20"/>
              </a:lnSpc>
            </a:pP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включает в себя: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4648200" y="6210300"/>
            <a:ext cx="9144000" cy="1327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Фрагмент добавления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группы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0591800" y="6972300"/>
            <a:ext cx="9144000" cy="709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Фрпагмент отображения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pic>
        <p:nvPicPr>
          <p:cNvPr id="14" name="Изображение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5800" y="419100"/>
            <a:ext cx="2628900" cy="5939155"/>
          </a:xfrm>
          <a:prstGeom prst="rect">
            <a:avLst/>
          </a:prstGeom>
        </p:spPr>
      </p:pic>
      <p:pic>
        <p:nvPicPr>
          <p:cNvPr id="17" name="Изображение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54000" y="500380"/>
            <a:ext cx="2738755" cy="58496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056909"/>
            <a:ext cx="17259300" cy="2230091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661357" y="1197863"/>
            <a:ext cx="14058070" cy="84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ru-RU" sz="8800" spc="-175">
                <a:solidFill>
                  <a:srgbClr val="1D7151"/>
                </a:solidFill>
                <a:latin typeface="HK Grotesk Bold"/>
              </a:rPr>
              <a:t>Фрагменты</a:t>
            </a:r>
            <a:endParaRPr lang="ru-RU" sz="8800" spc="-175">
              <a:solidFill>
                <a:srgbClr val="1D7151"/>
              </a:solidFill>
              <a:latin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7803" y="8388964"/>
            <a:ext cx="1221581" cy="1221581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1785" y="8457472"/>
            <a:ext cx="10372552" cy="15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3687" y="8567603"/>
            <a:ext cx="1049813" cy="86430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09287" y="4002342"/>
            <a:ext cx="7363108" cy="5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20"/>
              </a:lnSpc>
            </a:pP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включает в себя: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4648200" y="6438900"/>
            <a:ext cx="9144000" cy="1327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Фрагмент добавления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студента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0591800" y="6972300"/>
            <a:ext cx="9144000" cy="709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Фрпагмент отображения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3600" y="114300"/>
            <a:ext cx="2929255" cy="6516370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8800" y="401320"/>
            <a:ext cx="2966085" cy="65709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8056909"/>
            <a:ext cx="17259300" cy="2230091"/>
          </a:xfrm>
          <a:prstGeom prst="rect">
            <a:avLst/>
          </a:prstGeom>
          <a:solidFill>
            <a:srgbClr val="45AD7E"/>
          </a:solidFill>
        </p:spPr>
      </p:sp>
      <p:sp>
        <p:nvSpPr>
          <p:cNvPr id="3" name="TextBox 3"/>
          <p:cNvSpPr txBox="1"/>
          <p:nvPr/>
        </p:nvSpPr>
        <p:spPr>
          <a:xfrm>
            <a:off x="661357" y="1197863"/>
            <a:ext cx="14058070" cy="8458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600"/>
              </a:lnSpc>
            </a:pPr>
            <a:r>
              <a:rPr lang="ru-RU" sz="8800" spc="-175">
                <a:solidFill>
                  <a:srgbClr val="1D7151"/>
                </a:solidFill>
                <a:latin typeface="HK Grotesk Bold"/>
              </a:rPr>
              <a:t>Фрагменты</a:t>
            </a:r>
            <a:endParaRPr lang="ru-RU" sz="8800" spc="-175">
              <a:solidFill>
                <a:srgbClr val="1D7151"/>
              </a:solidFill>
              <a:latin typeface="HK Grotesk Bold"/>
            </a:endParaRPr>
          </a:p>
        </p:txBody>
      </p:sp>
      <p:grpSp>
        <p:nvGrpSpPr>
          <p:cNvPr id="4" name="Group 4"/>
          <p:cNvGrpSpPr/>
          <p:nvPr/>
        </p:nvGrpSpPr>
        <p:grpSpPr>
          <a:xfrm>
            <a:off x="267803" y="8388964"/>
            <a:ext cx="1221581" cy="1221581"/>
            <a:chOff x="0" y="0"/>
            <a:chExt cx="1628775" cy="1628775"/>
          </a:xfrm>
        </p:grpSpPr>
        <p:sp>
          <p:nvSpPr>
            <p:cNvPr id="5" name="AutoShape 5"/>
            <p:cNvSpPr/>
            <p:nvPr/>
          </p:nvSpPr>
          <p:spPr>
            <a:xfrm>
              <a:off x="0" y="0"/>
              <a:ext cx="1628775" cy="1628775"/>
            </a:xfrm>
            <a:prstGeom prst="rect">
              <a:avLst/>
            </a:prstGeom>
            <a:solidFill>
              <a:srgbClr val="17242D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259216" y="398383"/>
              <a:ext cx="1110343" cy="91773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50"/>
                </a:lnSpc>
              </a:p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661785" y="8457472"/>
            <a:ext cx="10372552" cy="1563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Простота интерфейса способствует 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  <a:r>
              <a:rPr lang="en-US" sz="3180">
                <a:solidFill>
                  <a:srgbClr val="17242D"/>
                </a:solidFill>
                <a:latin typeface="HK Grotesk Light Bold"/>
              </a:rPr>
              <a:t>взаимодействию пользователя с информацией</a:t>
            </a:r>
            <a:endParaRPr lang="en-US" sz="3180">
              <a:solidFill>
                <a:srgbClr val="17242D"/>
              </a:solidFill>
              <a:latin typeface="HK Grotesk Light Bold"/>
            </a:endParaRPr>
          </a:p>
          <a:p>
            <a:pPr>
              <a:lnSpc>
                <a:spcPts val="4135"/>
              </a:lnSpc>
            </a:pPr>
          </a:p>
        </p:txBody>
      </p:sp>
      <p:grpSp>
        <p:nvGrpSpPr>
          <p:cNvPr id="9" name="Group 9"/>
          <p:cNvGrpSpPr/>
          <p:nvPr/>
        </p:nvGrpSpPr>
        <p:grpSpPr>
          <a:xfrm rot="-5400000">
            <a:off x="-1215158" y="1835972"/>
            <a:ext cx="3016856" cy="435217"/>
            <a:chOff x="0" y="0"/>
            <a:chExt cx="3961550" cy="571500"/>
          </a:xfrm>
        </p:grpSpPr>
        <p:sp>
          <p:nvSpPr>
            <p:cNvPr id="10" name="Freeform 10"/>
            <p:cNvSpPr/>
            <p:nvPr/>
          </p:nvSpPr>
          <p:spPr>
            <a:xfrm>
              <a:off x="0" y="255270"/>
              <a:ext cx="3961550" cy="69850"/>
            </a:xfrm>
            <a:custGeom>
              <a:avLst/>
              <a:gdLst/>
              <a:ahLst/>
              <a:cxnLst/>
              <a:rect l="l" t="t" r="r" b="b"/>
              <a:pathLst>
                <a:path w="3961550" h="69850">
                  <a:moveTo>
                    <a:pt x="367072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961550" y="69850"/>
                  </a:lnTo>
                  <a:lnTo>
                    <a:pt x="396155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grpSp>
        <p:nvGrpSpPr>
          <p:cNvPr id="11" name="Group 11"/>
          <p:cNvGrpSpPr/>
          <p:nvPr/>
        </p:nvGrpSpPr>
        <p:grpSpPr>
          <a:xfrm>
            <a:off x="293270" y="327544"/>
            <a:ext cx="2430370" cy="386455"/>
            <a:chOff x="0" y="0"/>
            <a:chExt cx="3594100" cy="571500"/>
          </a:xfrm>
        </p:grpSpPr>
        <p:sp>
          <p:nvSpPr>
            <p:cNvPr id="12" name="Freeform 12"/>
            <p:cNvSpPr/>
            <p:nvPr/>
          </p:nvSpPr>
          <p:spPr>
            <a:xfrm>
              <a:off x="0" y="255270"/>
              <a:ext cx="3594100" cy="69850"/>
            </a:xfrm>
            <a:custGeom>
              <a:avLst/>
              <a:gdLst/>
              <a:ahLst/>
              <a:cxnLst/>
              <a:rect l="l" t="t" r="r" b="b"/>
              <a:pathLst>
                <a:path w="3594100" h="69850">
                  <a:moveTo>
                    <a:pt x="3303270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3594100" y="69850"/>
                  </a:lnTo>
                  <a:lnTo>
                    <a:pt x="3594100" y="0"/>
                  </a:lnTo>
                  <a:close/>
                </a:path>
              </a:pathLst>
            </a:custGeom>
            <a:solidFill>
              <a:srgbClr val="393839"/>
            </a:solidFill>
          </p:spPr>
        </p:sp>
      </p:grpSp>
      <p:pic>
        <p:nvPicPr>
          <p:cNvPr id="15" name="Picture 15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353687" y="8567603"/>
            <a:ext cx="1049813" cy="864304"/>
          </a:xfrm>
          <a:prstGeom prst="rect">
            <a:avLst/>
          </a:prstGeom>
        </p:spPr>
      </p:pic>
      <p:sp>
        <p:nvSpPr>
          <p:cNvPr id="16" name="TextBox 16"/>
          <p:cNvSpPr txBox="1"/>
          <p:nvPr/>
        </p:nvSpPr>
        <p:spPr>
          <a:xfrm>
            <a:off x="609287" y="4002342"/>
            <a:ext cx="7363108" cy="59916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820"/>
              </a:lnSpc>
            </a:pPr>
            <a:r>
              <a:rPr lang="en-US" sz="3705" spc="1260">
                <a:solidFill>
                  <a:srgbClr val="17242D"/>
                </a:solidFill>
                <a:latin typeface="HK Grotesk Light Bold"/>
              </a:rPr>
              <a:t>включает в себя: </a:t>
            </a:r>
            <a:endParaRPr lang="en-US" sz="3705" spc="1260">
              <a:solidFill>
                <a:srgbClr val="17242D"/>
              </a:solidFill>
              <a:latin typeface="HK Grotesk Light Bold"/>
            </a:endParaRPr>
          </a:p>
        </p:txBody>
      </p:sp>
      <p:sp>
        <p:nvSpPr>
          <p:cNvPr id="21" name="Текстовое поле 20"/>
          <p:cNvSpPr txBox="1"/>
          <p:nvPr/>
        </p:nvSpPr>
        <p:spPr>
          <a:xfrm>
            <a:off x="4572000" y="6515100"/>
            <a:ext cx="9144000" cy="13271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Фрагмент добавления</a:t>
            </a:r>
            <a:b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</a:b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преподавателя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sp>
        <p:nvSpPr>
          <p:cNvPr id="22" name="Текстовое поле 21"/>
          <p:cNvSpPr txBox="1"/>
          <p:nvPr/>
        </p:nvSpPr>
        <p:spPr>
          <a:xfrm>
            <a:off x="10591800" y="6972300"/>
            <a:ext cx="9144000" cy="7092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4820"/>
              </a:lnSpc>
            </a:pPr>
            <a:r>
              <a:rPr lang="ru-RU" altLang="en-US" sz="2400" spc="1260">
                <a:solidFill>
                  <a:srgbClr val="17242D"/>
                </a:solidFill>
                <a:latin typeface="HK Grotesk Light Bold"/>
                <a:sym typeface="+mn-ea"/>
              </a:rPr>
              <a:t>Фрпагмент отображения</a:t>
            </a:r>
            <a:endParaRPr lang="ru-RU" altLang="en-US" sz="2400" spc="1260">
              <a:solidFill>
                <a:srgbClr val="17242D"/>
              </a:solidFill>
              <a:latin typeface="HK Grotesk Light Bold"/>
              <a:sym typeface="+mn-ea"/>
            </a:endParaRPr>
          </a:p>
        </p:txBody>
      </p:sp>
      <p:pic>
        <p:nvPicPr>
          <p:cNvPr id="8" name="Изображение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0" y="419100"/>
            <a:ext cx="2821305" cy="6034405"/>
          </a:xfrm>
          <a:prstGeom prst="rect">
            <a:avLst/>
          </a:prstGeom>
        </p:spPr>
      </p:pic>
      <p:pic>
        <p:nvPicPr>
          <p:cNvPr id="13" name="Изображение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6400" y="387350"/>
            <a:ext cx="2864485" cy="6309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0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76817" y="1028700"/>
            <a:ext cx="8111183" cy="9258300"/>
          </a:xfrm>
          <a:prstGeom prst="rect">
            <a:avLst/>
          </a:prstGeom>
          <a:solidFill>
            <a:srgbClr val="45AD7E"/>
          </a:solidFill>
        </p:spPr>
      </p:sp>
      <p:pic>
        <p:nvPicPr>
          <p:cNvPr id="3" name="Picture 3"/>
          <p:cNvPicPr>
            <a:picLocks noChangeAspect="1"/>
          </p:cNvPicPr>
          <p:nvPr/>
        </p:nvPicPr>
        <p:blipFill>
          <a:blip r:embed="rId1" cstate="print"/>
          <a:srcRect/>
          <a:stretch>
            <a:fillRect/>
          </a:stretch>
        </p:blipFill>
        <p:spPr>
          <a:xfrm>
            <a:off x="10364903" y="5657850"/>
            <a:ext cx="7923097" cy="4476550"/>
          </a:xfrm>
          <a:prstGeom prst="rect">
            <a:avLst/>
          </a:prstGeom>
        </p:spPr>
      </p:pic>
      <p:grpSp>
        <p:nvGrpSpPr>
          <p:cNvPr id="4" name="Group 4"/>
          <p:cNvGrpSpPr/>
          <p:nvPr/>
        </p:nvGrpSpPr>
        <p:grpSpPr>
          <a:xfrm rot="-5400000">
            <a:off x="15987961" y="2868492"/>
            <a:ext cx="4114800" cy="435217"/>
            <a:chOff x="0" y="0"/>
            <a:chExt cx="5403302" cy="571500"/>
          </a:xfrm>
        </p:grpSpPr>
        <p:sp>
          <p:nvSpPr>
            <p:cNvPr id="5" name="Freeform 5"/>
            <p:cNvSpPr/>
            <p:nvPr/>
          </p:nvSpPr>
          <p:spPr>
            <a:xfrm>
              <a:off x="0" y="255270"/>
              <a:ext cx="5403302" cy="69850"/>
            </a:xfrm>
            <a:custGeom>
              <a:avLst/>
              <a:gdLst/>
              <a:ahLst/>
              <a:cxnLst/>
              <a:rect l="l" t="t" r="r" b="b"/>
              <a:pathLst>
                <a:path w="5403302" h="69850">
                  <a:moveTo>
                    <a:pt x="5112472" y="0"/>
                  </a:moveTo>
                  <a:lnTo>
                    <a:pt x="0" y="0"/>
                  </a:lnTo>
                  <a:lnTo>
                    <a:pt x="0" y="69850"/>
                  </a:lnTo>
                  <a:lnTo>
                    <a:pt x="5403302" y="69850"/>
                  </a:lnTo>
                  <a:lnTo>
                    <a:pt x="5403302" y="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428985" y="1794140"/>
            <a:ext cx="7540421" cy="7001196"/>
            <a:chOff x="0" y="0"/>
            <a:chExt cx="4988796" cy="463204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988795" cy="4632041"/>
            </a:xfrm>
            <a:custGeom>
              <a:avLst/>
              <a:gdLst/>
              <a:ahLst/>
              <a:cxnLst/>
              <a:rect l="l" t="t" r="r" b="b"/>
              <a:pathLst>
                <a:path w="4988795" h="4632041">
                  <a:moveTo>
                    <a:pt x="4864335" y="4632041"/>
                  </a:moveTo>
                  <a:lnTo>
                    <a:pt x="124460" y="4632041"/>
                  </a:lnTo>
                  <a:cubicBezTo>
                    <a:pt x="55880" y="4632041"/>
                    <a:pt x="0" y="4576161"/>
                    <a:pt x="0" y="4507581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4864336" y="0"/>
                  </a:lnTo>
                  <a:cubicBezTo>
                    <a:pt x="4932916" y="0"/>
                    <a:pt x="4988795" y="55880"/>
                    <a:pt x="4988795" y="124460"/>
                  </a:cubicBezTo>
                  <a:lnTo>
                    <a:pt x="4988795" y="4507581"/>
                  </a:lnTo>
                  <a:cubicBezTo>
                    <a:pt x="4988795" y="4576161"/>
                    <a:pt x="4932916" y="4632041"/>
                    <a:pt x="4864336" y="4632041"/>
                  </a:cubicBezTo>
                  <a:close/>
                </a:path>
              </a:pathLst>
            </a:custGeom>
            <a:solidFill>
              <a:srgbClr val="17242D"/>
            </a:solidFill>
          </p:spPr>
        </p:sp>
      </p:grpSp>
      <p:pic>
        <p:nvPicPr>
          <p:cNvPr id="8" name="Picture 8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6049065" y="1027285"/>
            <a:ext cx="3852557" cy="3582878"/>
          </a:xfrm>
          <a:prstGeom prst="rect">
            <a:avLst/>
          </a:prstGeom>
        </p:spPr>
      </p:pic>
      <p:grpSp>
        <p:nvGrpSpPr>
          <p:cNvPr id="9" name="Group 9"/>
          <p:cNvGrpSpPr/>
          <p:nvPr/>
        </p:nvGrpSpPr>
        <p:grpSpPr>
          <a:xfrm>
            <a:off x="862746" y="1665316"/>
            <a:ext cx="8281254" cy="1420784"/>
            <a:chOff x="0" y="0"/>
            <a:chExt cx="6673555" cy="1144957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1" name="Picture 11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248511" y="1662275"/>
            <a:ext cx="1423825" cy="1423825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505884" y="5776088"/>
            <a:ext cx="3852557" cy="3582878"/>
          </a:xfrm>
          <a:prstGeom prst="rect">
            <a:avLst/>
          </a:prstGeom>
        </p:spPr>
      </p:pic>
      <p:grpSp>
        <p:nvGrpSpPr>
          <p:cNvPr id="13" name="Group 13"/>
          <p:cNvGrpSpPr/>
          <p:nvPr/>
        </p:nvGrpSpPr>
        <p:grpSpPr>
          <a:xfrm>
            <a:off x="862746" y="3909898"/>
            <a:ext cx="8281254" cy="1420784"/>
            <a:chOff x="0" y="0"/>
            <a:chExt cx="6673555" cy="1144957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p>
              <a:endParaRPr lang="ru-RU" altLang="en-US"/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257493" y="3909898"/>
            <a:ext cx="1423825" cy="1423825"/>
          </a:xfrm>
          <a:prstGeom prst="rect">
            <a:avLst/>
          </a:prstGeom>
        </p:spPr>
      </p:pic>
      <p:grpSp>
        <p:nvGrpSpPr>
          <p:cNvPr id="17" name="Group 17"/>
          <p:cNvGrpSpPr/>
          <p:nvPr/>
        </p:nvGrpSpPr>
        <p:grpSpPr>
          <a:xfrm>
            <a:off x="914400" y="6134100"/>
            <a:ext cx="8281254" cy="1420784"/>
            <a:chOff x="0" y="0"/>
            <a:chExt cx="6673555" cy="1144957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6673555" cy="1144957"/>
            </a:xfrm>
            <a:custGeom>
              <a:avLst/>
              <a:gdLst/>
              <a:ahLst/>
              <a:cxnLst/>
              <a:rect l="l" t="t" r="r" b="b"/>
              <a:pathLst>
                <a:path w="6673555" h="1144957">
                  <a:moveTo>
                    <a:pt x="6549095" y="1144957"/>
                  </a:moveTo>
                  <a:lnTo>
                    <a:pt x="124460" y="1144957"/>
                  </a:lnTo>
                  <a:cubicBezTo>
                    <a:pt x="55880" y="1144957"/>
                    <a:pt x="0" y="1089077"/>
                    <a:pt x="0" y="1020497"/>
                  </a:cubicBezTo>
                  <a:lnTo>
                    <a:pt x="0" y="124460"/>
                  </a:lnTo>
                  <a:cubicBezTo>
                    <a:pt x="0" y="55880"/>
                    <a:pt x="55880" y="0"/>
                    <a:pt x="124460" y="0"/>
                  </a:cubicBezTo>
                  <a:lnTo>
                    <a:pt x="6549095" y="0"/>
                  </a:lnTo>
                  <a:cubicBezTo>
                    <a:pt x="6617674" y="0"/>
                    <a:pt x="6673555" y="55880"/>
                    <a:pt x="6673555" y="124460"/>
                  </a:cubicBezTo>
                  <a:lnTo>
                    <a:pt x="6673555" y="1020497"/>
                  </a:lnTo>
                  <a:cubicBezTo>
                    <a:pt x="6673555" y="1089077"/>
                    <a:pt x="6617674" y="1144957"/>
                    <a:pt x="6549095" y="1144957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</p:grpSp>
      <p:pic>
        <p:nvPicPr>
          <p:cNvPr id="19" name="Picture 19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>
          <a:xfrm>
            <a:off x="8248511" y="6143702"/>
            <a:ext cx="1423825" cy="1423825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8544574" y="1871282"/>
            <a:ext cx="849663" cy="906307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8472885" y="4183435"/>
            <a:ext cx="993040" cy="853456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8431707" y="6453760"/>
            <a:ext cx="1057433" cy="800667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9901621" y="2513471"/>
            <a:ext cx="7926131" cy="21068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890"/>
              </a:lnSpc>
            </a:pPr>
            <a:r>
              <a:rPr lang="en-US" sz="9620">
                <a:solidFill>
                  <a:srgbClr val="FFFFFF"/>
                </a:solidFill>
                <a:latin typeface="HK Grotesk Bold"/>
              </a:rPr>
              <a:t>Перспективы разработки</a:t>
            </a:r>
            <a:endParaRPr lang="en-US" sz="9620">
              <a:solidFill>
                <a:srgbClr val="FFFFFF"/>
              </a:solidFill>
              <a:latin typeface="HK Grotesk Bold"/>
            </a:endParaRPr>
          </a:p>
        </p:txBody>
      </p:sp>
      <p:sp>
        <p:nvSpPr>
          <p:cNvPr id="24" name="TextBox 24"/>
          <p:cNvSpPr txBox="1"/>
          <p:nvPr/>
        </p:nvSpPr>
        <p:spPr>
          <a:xfrm>
            <a:off x="1219200" y="1638300"/>
            <a:ext cx="7604852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HK Grotesk Light Bold"/>
              </a:rPr>
              <a:t>Добавление</a:t>
            </a:r>
            <a:r>
              <a:rPr lang="en-US" sz="3925" dirty="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ru-RU" altLang="en-US" sz="3925" dirty="0">
                <a:solidFill>
                  <a:srgbClr val="000000"/>
                </a:solidFill>
                <a:latin typeface="HK Grotesk Light Bold"/>
              </a:rPr>
              <a:t>распиасаний занятий</a:t>
            </a:r>
            <a:endParaRPr lang="ru-RU" altLang="en-US" sz="3925" dirty="0">
              <a:solidFill>
                <a:srgbClr val="000000"/>
              </a:solidFill>
              <a:latin typeface="HK Grotesk Light Bold"/>
            </a:endParaRPr>
          </a:p>
        </p:txBody>
      </p:sp>
      <p:sp>
        <p:nvSpPr>
          <p:cNvPr id="25" name="TextBox 25"/>
          <p:cNvSpPr txBox="1"/>
          <p:nvPr/>
        </p:nvSpPr>
        <p:spPr>
          <a:xfrm>
            <a:off x="1143000" y="6210300"/>
            <a:ext cx="7604852" cy="996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885"/>
              </a:lnSpc>
            </a:pPr>
            <a:r>
              <a:rPr lang="en-US" sz="3925" dirty="0" err="1">
                <a:solidFill>
                  <a:srgbClr val="000000"/>
                </a:solidFill>
                <a:latin typeface="HK Grotesk Light Bold"/>
              </a:rPr>
              <a:t>Оптимизация</a:t>
            </a:r>
            <a:r>
              <a:rPr lang="en-US" sz="3925" dirty="0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en-US" sz="3925" dirty="0" err="1">
                <a:solidFill>
                  <a:srgbClr val="000000"/>
                </a:solidFill>
                <a:latin typeface="HK Grotesk Light Bold"/>
              </a:rPr>
              <a:t>кода,</a:t>
            </a:r>
            <a:r>
              <a:rPr lang="ru-RU" altLang="en-US" sz="3925" dirty="0" err="1">
                <a:solidFill>
                  <a:srgbClr val="000000"/>
                </a:solidFill>
                <a:latin typeface="HK Grotesk Light Bold"/>
              </a:rPr>
              <a:t> и таблиц баз данных</a:t>
            </a:r>
            <a:r>
              <a:rPr lang="en-US" sz="3925" dirty="0" err="1">
                <a:solidFill>
                  <a:srgbClr val="000000"/>
                </a:solidFill>
                <a:latin typeface="HK Grotesk Light Bold"/>
              </a:rPr>
              <a:t> </a:t>
            </a:r>
            <a:r>
              <a:rPr lang="ru-RU" sz="3925" dirty="0">
                <a:solidFill>
                  <a:srgbClr val="000000"/>
                </a:solidFill>
                <a:latin typeface="HK Grotesk Light Bold"/>
              </a:rPr>
              <a:t> </a:t>
            </a:r>
            <a:endParaRPr lang="ru-RU" sz="3925" dirty="0">
              <a:solidFill>
                <a:srgbClr val="000000"/>
              </a:solidFill>
              <a:latin typeface="HK Grotesk Light Bold"/>
            </a:endParaRPr>
          </a:p>
        </p:txBody>
      </p:sp>
      <p:sp>
        <p:nvSpPr>
          <p:cNvPr id="26" name="Текстовое поле 25"/>
          <p:cNvSpPr txBox="1"/>
          <p:nvPr/>
        </p:nvSpPr>
        <p:spPr>
          <a:xfrm>
            <a:off x="1428750" y="4070985"/>
            <a:ext cx="9144000" cy="1087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ts val="3885"/>
              </a:lnSpc>
            </a:pPr>
            <a:r>
              <a:rPr lang="ru-RU" altLang="en-US" sz="3925" dirty="0" err="1">
                <a:solidFill>
                  <a:srgbClr val="000000"/>
                </a:solidFill>
                <a:latin typeface="HK Grotesk Light Bold"/>
                <a:sym typeface="+mn-ea"/>
              </a:rPr>
              <a:t>Реализация кроссплотфорфинности</a:t>
            </a:r>
            <a:endParaRPr lang="ru-RU" altLang="en-US" sz="3925" dirty="0" err="1">
              <a:solidFill>
                <a:srgbClr val="000000"/>
              </a:solidFill>
              <a:latin typeface="HK Grotesk Light Bold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2343</Words>
  <Application>WPS Presentation</Application>
  <PresentationFormat>Произвольный</PresentationFormat>
  <Paragraphs>140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33" baseType="lpstr">
      <vt:lpstr>Arial</vt:lpstr>
      <vt:lpstr>SimSun</vt:lpstr>
      <vt:lpstr>Wingdings</vt:lpstr>
      <vt:lpstr>Alegreya Sans SC Black</vt:lpstr>
      <vt:lpstr>Alegreya Sans SC Bold</vt:lpstr>
      <vt:lpstr>Alegreya Sans SC Bold Bold</vt:lpstr>
      <vt:lpstr>Trocchi</vt:lpstr>
      <vt:lpstr>HK Grotesk Bold</vt:lpstr>
      <vt:lpstr>Segoe Print</vt:lpstr>
      <vt:lpstr>Arimo</vt:lpstr>
      <vt:lpstr>Arimo Bold</vt:lpstr>
      <vt:lpstr>HK Grotesk Light Bold</vt:lpstr>
      <vt:lpstr>20db Bold</vt:lpstr>
      <vt:lpstr>HK Grotesk Medium Bold</vt:lpstr>
      <vt:lpstr>HK Grotesk Medium</vt:lpstr>
      <vt:lpstr>HK Grotesk Light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Orange Frosted Music Brand Guidelines Presentation</dc:title>
  <dc:creator>pr305a01</dc:creator>
  <cp:lastModifiedBy>senya</cp:lastModifiedBy>
  <cp:revision>8</cp:revision>
  <dcterms:created xsi:type="dcterms:W3CDTF">2006-08-16T00:00:00Z</dcterms:created>
  <dcterms:modified xsi:type="dcterms:W3CDTF">2025-12-21T22:50:39Z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6ED52E506F9C440E806725ABA28E153C_13</vt:lpwstr>
  </property>
  <property fmtid="{D5CDD505-2E9C-101B-9397-08002B2CF9AE}" pid="3" name="KSOProductBuildVer">
    <vt:lpwstr>1049-12.2.0.23155</vt:lpwstr>
  </property>
</Properties>
</file>